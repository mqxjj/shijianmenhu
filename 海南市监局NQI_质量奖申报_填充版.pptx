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业务场景3 - 海南省政府质量奖申报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解决痛点：</a:t>
            </a:r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传统质量奖申报流程线下办理、材料繁琐、评审周期长、过程不透明，企业申报成本高，评审机构管理效率低，社会监督渠道不畅。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1031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371600"/>
            <a:ext cx="914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3716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业务流程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1828800" cy="329184"/>
          </a:xfrm>
          <a:prstGeom prst="roundRect">
            <a:avLst>
              <a:gd name="adj" fmla="val 11111"/>
            </a:avLst>
          </a:prstGeom>
          <a:solidFill>
            <a:srgbClr val="D6E8F7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691640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1.企业申报 </a:t>
            </a:r>
            <a:pPr algn="l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提交申报材料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453896" y="2025396"/>
            <a:ext cx="109728" cy="27432"/>
          </a:xfrm>
          <a:prstGeom prst="downArrow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057400"/>
            <a:ext cx="1828800" cy="329184"/>
          </a:xfrm>
          <a:prstGeom prst="roundRect">
            <a:avLst>
              <a:gd name="adj" fmla="val 11111"/>
            </a:avLst>
          </a:prstGeom>
          <a:solidFill>
            <a:srgbClr val="D6E8F7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2057400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2.资格审查 </a:t>
            </a:r>
            <a:pPr algn="l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基本条件初审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453896" y="2391156"/>
            <a:ext cx="109728" cy="27432"/>
          </a:xfrm>
          <a:prstGeom prst="downArrow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423160"/>
            <a:ext cx="1828800" cy="329184"/>
          </a:xfrm>
          <a:prstGeom prst="roundRect">
            <a:avLst>
              <a:gd name="adj" fmla="val 11111"/>
            </a:avLst>
          </a:prstGeom>
          <a:solidFill>
            <a:srgbClr val="D6E8F7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2423160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3.材料评审 </a:t>
            </a:r>
            <a:pPr algn="l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书面评审评估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453896" y="2756916"/>
            <a:ext cx="109728" cy="27432"/>
          </a:xfrm>
          <a:prstGeom prst="downArrow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788920"/>
            <a:ext cx="1828800" cy="329184"/>
          </a:xfrm>
          <a:prstGeom prst="roundRect">
            <a:avLst>
              <a:gd name="adj" fmla="val 11111"/>
            </a:avLst>
          </a:prstGeom>
          <a:solidFill>
            <a:srgbClr val="D6E8F7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2788920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4.现场评审 </a:t>
            </a:r>
            <a:pPr algn="l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实地考察验证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453896" y="3122676"/>
            <a:ext cx="109728" cy="27432"/>
          </a:xfrm>
          <a:prstGeom prst="downArrow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154680"/>
            <a:ext cx="1828800" cy="329184"/>
          </a:xfrm>
          <a:prstGeom prst="roundRect">
            <a:avLst>
              <a:gd name="adj" fmla="val 11111"/>
            </a:avLst>
          </a:prstGeom>
          <a:solidFill>
            <a:srgbClr val="D6E8F7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3154680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5.陈述答辩 </a:t>
            </a:r>
            <a:pPr algn="l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当面陈述质询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453896" y="3488436"/>
            <a:ext cx="109728" cy="27432"/>
          </a:xfrm>
          <a:prstGeom prst="downArrow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3520440"/>
            <a:ext cx="1828800" cy="329184"/>
          </a:xfrm>
          <a:prstGeom prst="roundRect">
            <a:avLst>
              <a:gd name="adj" fmla="val 11111"/>
            </a:avLst>
          </a:prstGeom>
          <a:solidFill>
            <a:srgbClr val="D6E8F7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" y="3520440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6.综合评价 </a:t>
            </a:r>
            <a:pPr algn="l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综合评定判断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453896" y="3854196"/>
            <a:ext cx="109728" cy="27432"/>
          </a:xfrm>
          <a:prstGeom prst="downArrow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3886200"/>
            <a:ext cx="1828800" cy="329184"/>
          </a:xfrm>
          <a:prstGeom prst="roundRect">
            <a:avLst>
              <a:gd name="adj" fmla="val 11111"/>
            </a:avLst>
          </a:prstGeom>
          <a:solidFill>
            <a:srgbClr val="D6E8F7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" y="3886200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7.发布公示 </a:t>
            </a:r>
            <a:pPr algn="l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社会公示监督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453896" y="4219956"/>
            <a:ext cx="109728" cy="27432"/>
          </a:xfrm>
          <a:prstGeom prst="downArrow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251960"/>
            <a:ext cx="1828800" cy="329184"/>
          </a:xfrm>
          <a:prstGeom prst="roundRect">
            <a:avLst>
              <a:gd name="adj" fmla="val 11111"/>
            </a:avLst>
          </a:prstGeom>
          <a:solidFill>
            <a:srgbClr val="FDE8D6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" y="4251960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8.归档结束 </a:t>
            </a:r>
            <a:pPr algn="l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确定获奖名单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0" y="1325880"/>
            <a:ext cx="42976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34840" y="1371600"/>
            <a:ext cx="914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34840" y="13716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建设内容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926080" y="1737360"/>
            <a:ext cx="1280160" cy="1325880"/>
          </a:xfrm>
          <a:prstGeom prst="roundRect">
            <a:avLst>
              <a:gd name="adj" fmla="val 2857"/>
            </a:avLst>
          </a:prstGeom>
          <a:solidFill>
            <a:srgbClr val="F5F9FC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26080" y="1737360"/>
            <a:ext cx="1280160" cy="729234"/>
          </a:xfrm>
          <a:prstGeom prst="roundRect">
            <a:avLst>
              <a:gd name="adj" fmla="val 5016"/>
            </a:avLst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26080" y="1737360"/>
            <a:ext cx="1280160" cy="72923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2971800" y="253288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企业申报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999232" y="2824582"/>
            <a:ext cx="1133856" cy="228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申报材料填写与附件上传下载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343400" y="1737360"/>
            <a:ext cx="1280160" cy="1325880"/>
          </a:xfrm>
          <a:prstGeom prst="roundRect">
            <a:avLst>
              <a:gd name="adj" fmla="val 2857"/>
            </a:avLst>
          </a:prstGeom>
          <a:solidFill>
            <a:srgbClr val="F5F9FC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43400" y="1737360"/>
            <a:ext cx="1280160" cy="729234"/>
          </a:xfrm>
          <a:prstGeom prst="roundRect">
            <a:avLst>
              <a:gd name="adj" fmla="val 5016"/>
            </a:avLst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43400" y="1737360"/>
            <a:ext cx="1280160" cy="72923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📰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4389120" y="253288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质量新闻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416552" y="2824582"/>
            <a:ext cx="1133856" cy="228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质量奖相关新闻查询浏览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760720" y="1737360"/>
            <a:ext cx="1280160" cy="1325880"/>
          </a:xfrm>
          <a:prstGeom prst="roundRect">
            <a:avLst>
              <a:gd name="adj" fmla="val 2857"/>
            </a:avLst>
          </a:prstGeom>
          <a:solidFill>
            <a:srgbClr val="F5F9FC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760720" y="1737360"/>
            <a:ext cx="1280160" cy="729234"/>
          </a:xfrm>
          <a:prstGeom prst="roundRect">
            <a:avLst>
              <a:gd name="adj" fmla="val 5016"/>
            </a:avLst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60720" y="1737360"/>
            <a:ext cx="1280160" cy="72923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5806440" y="253288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质量奖案例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833872" y="2824582"/>
            <a:ext cx="1133856" cy="228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获奖案例查询与浏览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926080" y="3200400"/>
            <a:ext cx="1280160" cy="1325880"/>
          </a:xfrm>
          <a:prstGeom prst="roundRect">
            <a:avLst>
              <a:gd name="adj" fmla="val 2857"/>
            </a:avLst>
          </a:prstGeom>
          <a:solidFill>
            <a:srgbClr val="F5F9FC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3200400"/>
            <a:ext cx="1280160" cy="729234"/>
          </a:xfrm>
          <a:prstGeom prst="roundRect">
            <a:avLst>
              <a:gd name="adj" fmla="val 5016"/>
            </a:avLst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26080" y="3200400"/>
            <a:ext cx="1280160" cy="72923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📢</a:t>
            </a:r>
            <a:endParaRPr lang="en-US" sz="2400" dirty="0"/>
          </a:p>
        </p:txBody>
      </p:sp>
      <p:sp>
        <p:nvSpPr>
          <p:cNvPr id="52" name="Text 50"/>
          <p:cNvSpPr/>
          <p:nvPr/>
        </p:nvSpPr>
        <p:spPr>
          <a:xfrm>
            <a:off x="2971800" y="399592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质量资讯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2999232" y="4287622"/>
            <a:ext cx="1133856" cy="228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质量资讯信息查询浏览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343400" y="3200400"/>
            <a:ext cx="1280160" cy="1325880"/>
          </a:xfrm>
          <a:prstGeom prst="roundRect">
            <a:avLst>
              <a:gd name="adj" fmla="val 2857"/>
            </a:avLst>
          </a:prstGeom>
          <a:solidFill>
            <a:srgbClr val="F5F9FC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343400" y="3200400"/>
            <a:ext cx="1280160" cy="729234"/>
          </a:xfrm>
          <a:prstGeom prst="roundRect">
            <a:avLst>
              <a:gd name="adj" fmla="val 5016"/>
            </a:avLst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43400" y="3200400"/>
            <a:ext cx="1280160" cy="72923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📣</a:t>
            </a:r>
            <a:endParaRPr lang="en-US" sz="2400" dirty="0"/>
          </a:p>
        </p:txBody>
      </p:sp>
      <p:sp>
        <p:nvSpPr>
          <p:cNvPr id="57" name="Text 55"/>
          <p:cNvSpPr/>
          <p:nvPr/>
        </p:nvSpPr>
        <p:spPr>
          <a:xfrm>
            <a:off x="4389120" y="399592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质量奖公示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416552" y="4287622"/>
            <a:ext cx="1133856" cy="228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获奖企业公示发布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5760720" y="3200400"/>
            <a:ext cx="1280160" cy="1325880"/>
          </a:xfrm>
          <a:prstGeom prst="roundRect">
            <a:avLst>
              <a:gd name="adj" fmla="val 2857"/>
            </a:avLst>
          </a:prstGeom>
          <a:solidFill>
            <a:srgbClr val="F5F9FC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760720" y="3200400"/>
            <a:ext cx="1280160" cy="729234"/>
          </a:xfrm>
          <a:prstGeom prst="roundRect">
            <a:avLst>
              <a:gd name="adj" fmla="val 5016"/>
            </a:avLst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760720" y="3200400"/>
            <a:ext cx="1280160" cy="72923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62" name="Text 60"/>
          <p:cNvSpPr/>
          <p:nvPr/>
        </p:nvSpPr>
        <p:spPr>
          <a:xfrm>
            <a:off x="5806440" y="399592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统计分析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833872" y="4287622"/>
            <a:ext cx="1133856" cy="228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申报数据统计与分析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7223760" y="1325880"/>
            <a:ext cx="19202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543800" y="1371600"/>
            <a:ext cx="1280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543800" y="13716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预期效果及业务影响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7315200" y="170992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企业侧：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360920" y="1911096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  <a:spAutoFit/>
          </a:bodyPr>
          <a:lstStyle/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申报线上化</a:t>
            </a:r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进度可跟踪</a:t>
            </a:r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标杆引领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315200" y="262432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机构侧：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7360920" y="2825496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  <a:spAutoFit/>
          </a:bodyPr>
          <a:lstStyle/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评审标准化</a:t>
            </a:r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效率提升</a:t>
            </a:r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质量可追溯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7315200" y="353872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监管侧：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7360920" y="3739896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  <a:spAutoFit/>
          </a:bodyPr>
          <a:lstStyle/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全流程监管</a:t>
            </a:r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公开透明</a:t>
            </a:r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数据决策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7269480" y="4206240"/>
            <a:ext cx="1828800" cy="4572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342632" y="4251960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业务影响：</a:t>
            </a:r>
            <a:pPr algn="l" indent="0" marL="0">
              <a:buNone/>
            </a:pPr>
            <a:r>
              <a:rPr lang="en-US" sz="750" dirty="0">
                <a:solidFill>
                  <a:srgbClr val="D6E8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实现质量奖申报与管理的"一站式"服务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57200" y="49423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海南质量基础设施NQI一站式服务平台 · 政府质量奖申报模块</a:t>
            </a:r>
            <a:endParaRPr lang="en-US" sz="800" dirty="0"/>
          </a:p>
        </p:txBody>
      </p:sp>
      <p:sp>
        <p:nvSpPr>
          <p:cNvPr id="7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政府质量奖申报 · 业务流程图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全流程线上化管理，涵盖企业申报、资格审查、材料评审、现场评审、陈述答辩、综合评价、发布公示七大环节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731520"/>
          </a:xfrm>
          <a:prstGeom prst="rect">
            <a:avLst/>
          </a:prstGeom>
          <a:solidFill>
            <a:srgbClr val="E8F4FD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914400" cy="731520"/>
          </a:xfrm>
          <a:prstGeom prst="rect">
            <a:avLst/>
          </a:prstGeom>
          <a:solidFill>
            <a:srgbClr val="E8F4FD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A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申报企业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solidFill>
            <a:srgbClr val="F0F7EE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20240"/>
            <a:ext cx="914400" cy="731520"/>
          </a:xfrm>
          <a:prstGeom prst="rect">
            <a:avLst/>
          </a:prstGeom>
          <a:solidFill>
            <a:srgbClr val="F0F7EE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02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A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评审机构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8229600" cy="731520"/>
          </a:xfrm>
          <a:prstGeom prst="rect">
            <a:avLst/>
          </a:prstGeom>
          <a:solidFill>
            <a:srgbClr val="FFF4E5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788920"/>
            <a:ext cx="914400" cy="731520"/>
          </a:xfrm>
          <a:prstGeom prst="rect">
            <a:avLst/>
          </a:prstGeom>
          <a:solidFill>
            <a:srgbClr val="FFF4E5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889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A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评审专家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FDE8E8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657600"/>
            <a:ext cx="914400" cy="731520"/>
          </a:xfrm>
          <a:prstGeom prst="rect">
            <a:avLst/>
          </a:prstGeom>
          <a:solidFill>
            <a:srgbClr val="FDE8E8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6576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A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社会公众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00200" y="1188720"/>
            <a:ext cx="10058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70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00200" y="11887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提交申报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材料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0" y="1188720"/>
            <a:ext cx="10058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70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11887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参与陈述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答辩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600200" y="2057400"/>
            <a:ext cx="10058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A9D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00200" y="20574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9D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资格审查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5A9D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筛选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0" y="2057400"/>
            <a:ext cx="10058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A9D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20574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9D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组织材料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5A9D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评审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886200" y="2057400"/>
            <a:ext cx="10058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A9D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86200" y="20574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9D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组织现场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5A9D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评审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9200" y="2057400"/>
            <a:ext cx="10058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A9D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20574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9D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综合评价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5A9D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审定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0" y="2926080"/>
            <a:ext cx="10058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D7D3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0" y="29260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书面材料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评审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886200" y="2926080"/>
            <a:ext cx="10058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D7D3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86200" y="29260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现场考察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0" y="2926080"/>
            <a:ext cx="10058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D7D3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29260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陈述答辩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质询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72200" y="3794760"/>
            <a:ext cx="10058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134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37947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134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公示监督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134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反馈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606040" y="1403604"/>
            <a:ext cx="137160" cy="27432"/>
          </a:xfrm>
          <a:prstGeom prst="rightArrow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606040" y="2272284"/>
            <a:ext cx="137160" cy="27432"/>
          </a:xfrm>
          <a:prstGeom prst="rightArrow">
            <a:avLst/>
          </a:prstGeom>
          <a:solidFill>
            <a:srgbClr val="5A9D3E"/>
          </a:solidFill>
          <a:ln w="12700">
            <a:solidFill>
              <a:srgbClr val="5A9D3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49040" y="2272284"/>
            <a:ext cx="137160" cy="27432"/>
          </a:xfrm>
          <a:prstGeom prst="rightArrow">
            <a:avLst/>
          </a:prstGeom>
          <a:solidFill>
            <a:srgbClr val="5A9D3E"/>
          </a:solidFill>
          <a:ln w="12700">
            <a:solidFill>
              <a:srgbClr val="5A9D3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92040" y="2272284"/>
            <a:ext cx="137160" cy="27432"/>
          </a:xfrm>
          <a:prstGeom prst="rightArrow">
            <a:avLst/>
          </a:prstGeom>
          <a:solidFill>
            <a:srgbClr val="5A9D3E"/>
          </a:solidFill>
          <a:ln w="12700">
            <a:solidFill>
              <a:srgbClr val="5A9D3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49040" y="3140964"/>
            <a:ext cx="137160" cy="27432"/>
          </a:xfrm>
          <a:prstGeom prst="rightArrow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92040" y="3140964"/>
            <a:ext cx="137160" cy="27432"/>
          </a:xfrm>
          <a:prstGeom prst="rightArrow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89404" y="1783080"/>
            <a:ext cx="27432" cy="137160"/>
          </a:xfrm>
          <a:prstGeom prst="downArrow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32404" y="2651760"/>
            <a:ext cx="27432" cy="137160"/>
          </a:xfrm>
          <a:prstGeom prst="downArrow">
            <a:avLst/>
          </a:prstGeom>
          <a:solidFill>
            <a:srgbClr val="5A9D3E"/>
          </a:solidFill>
          <a:ln w="12700">
            <a:solidFill>
              <a:srgbClr val="5A9D3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375404" y="2651760"/>
            <a:ext cx="27432" cy="137160"/>
          </a:xfrm>
          <a:prstGeom prst="downArrow">
            <a:avLst/>
          </a:prstGeom>
          <a:solidFill>
            <a:srgbClr val="5A9D3E"/>
          </a:solidFill>
          <a:ln w="12700">
            <a:solidFill>
              <a:srgbClr val="5A9D3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661404" y="2651760"/>
            <a:ext cx="27432" cy="1005840"/>
          </a:xfrm>
          <a:prstGeom prst="downArrow">
            <a:avLst/>
          </a:prstGeom>
          <a:solidFill>
            <a:srgbClr val="5A9D3E"/>
          </a:solidFill>
          <a:ln w="12700">
            <a:solidFill>
              <a:srgbClr val="5A9D3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518404" y="1783080"/>
            <a:ext cx="27432" cy="1005840"/>
          </a:xfrm>
          <a:prstGeom prst="downArrow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4526280"/>
            <a:ext cx="8229600" cy="347472"/>
          </a:xfrm>
          <a:prstGeom prst="roundRect">
            <a:avLst>
              <a:gd name="adj" fmla="val 7895"/>
            </a:avLst>
          </a:prstGeom>
          <a:solidFill>
            <a:srgbClr val="F5F9FC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14400" y="4636008"/>
            <a:ext cx="128016" cy="128016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97280" y="459943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企业端流程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834640" y="4636008"/>
            <a:ext cx="128016" cy="128016"/>
          </a:xfrm>
          <a:prstGeom prst="ellipse">
            <a:avLst/>
          </a:prstGeom>
          <a:solidFill>
            <a:srgbClr val="5A9D3E"/>
          </a:solidFill>
          <a:ln w="12700">
            <a:solidFill>
              <a:srgbClr val="5A9D3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017520" y="459943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评审机构端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754880" y="4636008"/>
            <a:ext cx="128016" cy="128016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37760" y="459943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评审专家端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675120" y="4636008"/>
            <a:ext cx="128016" cy="128016"/>
          </a:xfrm>
          <a:prstGeom prst="ellipse">
            <a:avLst/>
          </a:prstGeom>
          <a:solidFill>
            <a:srgbClr val="D13438"/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58000" y="459943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社会监督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49423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海南质量基础设施NQI一站式服务平台 · 政府质量奖申报模块</a:t>
            </a:r>
            <a:endParaRPr lang="en-US" sz="800" dirty="0"/>
          </a:p>
        </p:txBody>
      </p:sp>
      <p:sp>
        <p:nvSpPr>
          <p:cNvPr id="5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政府质量奖申报 · 功能与数据流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931920" cy="1645920"/>
          </a:xfrm>
          <a:prstGeom prst="roundRect">
            <a:avLst>
              <a:gd name="adj" fmla="val 2778"/>
            </a:avLst>
          </a:prstGeom>
          <a:solidFill>
            <a:srgbClr val="F5F9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22960"/>
            <a:ext cx="3931920" cy="32004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📥 输入项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■ 申报表：</a:t>
            </a:r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按要求格式如实完整填写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■ 组织（个人）概述：</a:t>
            </a:r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依据标准，简明扼要介绍情况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■ 自我评价报告：</a:t>
            </a:r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对照卓越绩效评价准则撰写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0574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■ 证实性材料：</a:t>
            </a:r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财务报表、荣誉证书等证明文件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822960"/>
            <a:ext cx="3931920" cy="1645920"/>
          </a:xfrm>
          <a:prstGeom prst="roundRect">
            <a:avLst>
              <a:gd name="adj" fmla="val 2778"/>
            </a:avLst>
          </a:prstGeom>
          <a:solidFill>
            <a:srgbClr val="F0F7EE"/>
          </a:solidFill>
          <a:ln w="12700">
            <a:solidFill>
              <a:srgbClr val="B7D9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822960"/>
            <a:ext cx="3931920" cy="320040"/>
          </a:xfrm>
          <a:prstGeom prst="rect">
            <a:avLst/>
          </a:prstGeom>
          <a:solidFill>
            <a:srgbClr val="5A9D3E"/>
          </a:solidFill>
          <a:ln w="12700">
            <a:solidFill>
              <a:srgbClr val="5A9D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822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📤 输出项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2344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9D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■ 申报受理回执：</a:t>
            </a:r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申报材料已收到并进入审核流程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92040" y="15087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9D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■ 申报不通过通知：</a:t>
            </a:r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说明未通过原因的书面通知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17830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9D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■ 入选获奖名单公示：</a:t>
            </a:r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省级主要媒体或网站发布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20574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9D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■ 获奖表彰决定：</a:t>
            </a:r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具备公开性和公信力的正式文件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solidFill>
            <a:srgbClr val="D6E8F7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6517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🔧 核心功能模块详解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265176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32004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企业申报功能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97280" y="3474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申报材料填写、附件上传下载，支持在线填报、草稿保存、一键提交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46120" y="3108960"/>
            <a:ext cx="265176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37560" y="3246120"/>
            <a:ext cx="457200" cy="45720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886200" y="32004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质量新闻功能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886200" y="3474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质量奖相关新闻查询浏览，支持分类筛选、关键词搜索、热点推荐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35040" y="3108960"/>
            <a:ext cx="265176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3246120"/>
            <a:ext cx="457200" cy="45720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675120" y="32004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政府质量奖案例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675120" y="3474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获奖案例查询浏览，展示历届获奖企业优秀经验与标杆实践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" y="3931920"/>
            <a:ext cx="265176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97280" y="40233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质量资讯功能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097280" y="42976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质量资讯查询浏览，整合质量管理、政策法规、行业动态等信息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246120" y="3931920"/>
            <a:ext cx="265176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37560" y="4069080"/>
            <a:ext cx="457200" cy="45720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3756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886200" y="40233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质量奖公示功能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886200" y="42976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获奖企业公示发布，支持公示期异议反馈、结果公告发布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9423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海南质量基础设施NQI一站式服务平台 · 政府质量奖申报模块</a:t>
            </a:r>
            <a:endParaRPr lang="en-US" sz="800" dirty="0"/>
          </a:p>
        </p:txBody>
      </p:sp>
      <p:sp>
        <p:nvSpPr>
          <p:cNvPr id="4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2026-07-27T08:45:20Z</dcterms:created>
  <dcterms:modified xsi:type="dcterms:W3CDTF">2026-07-27T08:45:20Z</dcterms:modified>
</cp:coreProperties>
</file>